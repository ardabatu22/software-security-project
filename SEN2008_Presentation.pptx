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291840" cy="329184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868680" cy="86868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2710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DCF2"/>
                </a:solidFill>
              </a:rPr>
              <a:t>SEN 2008  ·  SOFTWARE SECURITY TERM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Mobile Authentication with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2.0 Authorization Code Flow &amp; PKCE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2245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A5A4"/>
                </a:solidFill>
              </a:rPr>
              <a:t>iOS (SwiftUI) client  +  Java (Spring Boot) backend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3840480" cy="0"/>
          </a:xfrm>
          <a:prstGeom prst="line">
            <a:avLst/>
          </a:prstGeom>
          <a:noFill/>
          <a:ln w="19050">
            <a:solidFill>
              <a:srgbClr val="1633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Batuhan Arda</a:t>
            </a:r>
            <a:pPr indent="0" marL="0">
              <a:buNone/>
            </a:pPr>
            <a:r>
              <a:rPr lang="en-US" sz="1350" dirty="0">
                <a:solidFill>
                  <a:srgbClr val="C9DCF2"/>
                </a:solidFill>
              </a:rPr>
              <a:t>  2368567   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Abdullabek Atajanov</a:t>
            </a:r>
            <a:pPr indent="0" marL="0">
              <a:buNone/>
            </a:pPr>
            <a:r>
              <a:rPr lang="en-US" sz="1350" dirty="0">
                <a:solidFill>
                  <a:srgbClr val="C9DCF2"/>
                </a:solidFill>
              </a:rPr>
              <a:t>  2364274   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Kerem Gürcan</a:t>
            </a:r>
            <a:pPr indent="0" marL="0">
              <a:buNone/>
            </a:pPr>
            <a:r>
              <a:rPr lang="en-US" sz="1350" dirty="0">
                <a:solidFill>
                  <a:srgbClr val="C9DCF2"/>
                </a:solidFill>
              </a:rPr>
              <a:t>  2366446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603504" cy="603504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91640" y="181051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21284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Why mobile login is vulnerable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70168" y="155448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1847088"/>
            <a:ext cx="603504" cy="603504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9"/>
          <p:cNvSpPr/>
          <p:nvPr/>
        </p:nvSpPr>
        <p:spPr>
          <a:xfrm>
            <a:off x="6644488" y="18470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421728" y="181051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Literature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21728" y="221284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OAuth 2.0, PKCE, JWT (the RFCs)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3264408"/>
            <a:ext cx="603504" cy="603504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2644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691640" y="322783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How PKCE Works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91640" y="363016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Binding the code to a secret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70168" y="297180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44488" y="3264408"/>
            <a:ext cx="603504" cy="603504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22" name="Text 19"/>
          <p:cNvSpPr/>
          <p:nvPr/>
        </p:nvSpPr>
        <p:spPr>
          <a:xfrm>
            <a:off x="6644488" y="32644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421728" y="322783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21728" y="363016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iOS client + Spring Boot backend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38912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4400" y="4681728"/>
            <a:ext cx="603504" cy="603504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46817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691640" y="464515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Implementation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691640" y="504748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Backend &amp; iOS deep dive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70168" y="4389120"/>
            <a:ext cx="518144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44488" y="4681728"/>
            <a:ext cx="603504" cy="603504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32" name="Text 29"/>
          <p:cNvSpPr/>
          <p:nvPr/>
        </p:nvSpPr>
        <p:spPr>
          <a:xfrm>
            <a:off x="6644488" y="46817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7421728" y="4645152"/>
            <a:ext cx="399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Innovation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21728" y="5047488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Live interception attack demo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— The Key Players &amp; Terms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393338" cy="2423160"/>
          </a:xfrm>
          <a:prstGeom prst="roundRect">
            <a:avLst>
              <a:gd name="adj" fmla="val 3019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70989" y="1828800"/>
            <a:ext cx="731520" cy="73152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869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9748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40"/>
                </a:solidFill>
              </a:rPr>
              <a:t>Resource Owner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3090672"/>
            <a:ext cx="28446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The user who wants to log in.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99178" y="1554480"/>
            <a:ext cx="3393338" cy="2423160"/>
          </a:xfrm>
          <a:prstGeom prst="roundRect">
            <a:avLst>
              <a:gd name="adj" fmla="val 3019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0116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73498" y="269748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40"/>
                </a:solidFill>
              </a:rPr>
              <a:t>Client (public)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673498" y="3090672"/>
            <a:ext cx="28446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Our iOS app. Runs on the user's device — cannot keep a secret.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58277" y="1554480"/>
            <a:ext cx="3393338" cy="2423160"/>
          </a:xfrm>
          <a:prstGeom prst="roundRect">
            <a:avLst>
              <a:gd name="adj" fmla="val 3019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89186" y="1828800"/>
            <a:ext cx="731520" cy="73152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2066" y="2011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32597" y="269748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40"/>
                </a:solidFill>
              </a:rPr>
              <a:t>Authorization Server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432597" y="3090672"/>
            <a:ext cx="284469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Our Spring Boot backend. Issues codes and tokens.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160520"/>
            <a:ext cx="10911535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100584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Two terms you'll hear throughout: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005840" y="4681728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7E7D"/>
                </a:solidFill>
              </a:rPr>
              <a:t>Authorization code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433"/>
                </a:solidFill>
              </a:rPr>
              <a:t> — a short-lived, single-use ticket. Useless on its own; must be exchanged for a token.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05840" y="5285232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7E7D"/>
                </a:solidFill>
              </a:rPr>
              <a:t>Access token (JWT)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2433"/>
                </a:solidFill>
              </a:rPr>
              <a:t> — a signed proof of login. Carried with each request to reach protected data; tamper-proof and short-lived.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D84A42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433"/>
                </a:solidFill>
              </a:rPr>
              <a:t>Mobile apps are public clients — they run on a device the user controls and cannot safely store a secret. Anything shipped in the app binary can be extracted.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A42"/>
                </a:solidFill>
              </a:rPr>
              <a:t>The Authorization Code Interception Attack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</a:rPr>
              <a:t>The server redirects the authorization code back to the app via a custom URL scheme.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</a:rPr>
              <a:t>A malicious app registered for the same scheme can intercept that code.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</a:rPr>
              <a:t>Without extra protection, the stolen code alone is enough to obtain tokens and impersonate the user.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440"/>
                </a:solidFill>
              </a:rPr>
              <a:t>The gap we address:  </a:t>
            </a:r>
            <a:pPr indent="0" marL="0">
              <a:buNone/>
            </a:pPr>
            <a:r>
              <a:rPr lang="en-US" sz="1400" i="1" dirty="0">
                <a:solidFill>
                  <a:srgbClr val="1A2433"/>
                </a:solidFill>
              </a:rPr>
              <a:t>make the Authorization Code grant safe for clients that cannot keep a secret.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141732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440"/>
                </a:solidFill>
              </a:rPr>
              <a:t>Legitimate App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8288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92640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440"/>
                </a:solidFill>
              </a:rPr>
              <a:t>Auth Server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589520" y="2148840"/>
            <a:ext cx="2788920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headEnd type="triangle"/>
            <a:tailEnd type="triangle"/>
          </a:ln>
        </p:spPr>
      </p:sp>
      <p:sp>
        <p:nvSpPr>
          <p:cNvPr id="15" name="Text 10"/>
          <p:cNvSpPr/>
          <p:nvPr/>
        </p:nvSpPr>
        <p:spPr>
          <a:xfrm>
            <a:off x="6766560" y="2971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E"/>
                </a:solidFill>
              </a:rPr>
              <a:t>authorization code via   com.example.oauthdemo://callback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549640" y="3429000"/>
            <a:ext cx="640080" cy="640080"/>
          </a:xfrm>
          <a:prstGeom prst="ellipse">
            <a:avLst/>
          </a:prstGeom>
          <a:solidFill>
            <a:srgbClr val="D84A4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56616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869680" y="2194560"/>
            <a:ext cx="0" cy="1234440"/>
          </a:xfrm>
          <a:prstGeom prst="line">
            <a:avLst/>
          </a:prstGeom>
          <a:noFill/>
          <a:ln w="22225">
            <a:solidFill>
              <a:srgbClr val="D84A42"/>
            </a:solidFill>
            <a:prstDash val="dash"/>
            <a:tailEnd type="triangle"/>
          </a:ln>
        </p:spPr>
      </p:sp>
      <p:sp>
        <p:nvSpPr>
          <p:cNvPr id="19" name="Text 13"/>
          <p:cNvSpPr/>
          <p:nvPr/>
        </p:nvSpPr>
        <p:spPr>
          <a:xfrm>
            <a:off x="676656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4A42"/>
                </a:solidFill>
              </a:rPr>
              <a:t>Malicious app intercepts the code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766560" y="4498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E"/>
                </a:solidFill>
              </a:rPr>
              <a:t>Same custom scheme registered → code stolen in transit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508760"/>
            <a:ext cx="91440" cy="19202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09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6749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71800" y="1764792"/>
            <a:ext cx="28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</a:rPr>
              <a:t>The OAuth 2.0 Framework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313432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Defines the Authorization Code grant — but assumes a confidential client, leaving public clients exposed.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50876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ECF8F7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8728" y="1508760"/>
            <a:ext cx="91440" cy="1920240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2" name="Text 9"/>
          <p:cNvSpPr/>
          <p:nvPr/>
        </p:nvSpPr>
        <p:spPr>
          <a:xfrm>
            <a:off x="6553048" y="1709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E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7636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610448" y="1764792"/>
            <a:ext cx="28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</a:rPr>
              <a:t>PKCE  (our foundation)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53048" y="2313432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Binds the code to the client via a one-time verifier/challenge. Fixes interception without any shared secret.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70332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703320"/>
            <a:ext cx="91440" cy="19202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7519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971800" y="3959352"/>
            <a:ext cx="28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</a:rPr>
              <a:t>JSON Web Token (JWT)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4507992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Compact, signed, self-contained access token. Validated by signature + expiry, no DB lookup.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370332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78728" y="3703320"/>
            <a:ext cx="91440" cy="19202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6553048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RFC 9700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610448" y="3959352"/>
            <a:ext cx="28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</a:rPr>
              <a:t>OAuth Security BCP (2025)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53048" y="4507992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Current best practice: PKCE is now recommended for essentially all clients, not just mobile.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Foundational Analysis — RFC 7636 (PKCE)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D84A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057400"/>
            <a:ext cx="2113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0120" y="2880360"/>
            <a:ext cx="27532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A2433"/>
                </a:solidFill>
              </a:rPr>
              <a:t>A public client cannot prove, at the token step, that it is the same app that started the login — without a stored secret. So a stolen code can be redeemed by anyone.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99178" y="169164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19218" y="2011680"/>
            <a:ext cx="640080" cy="64008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378" y="21488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6458" y="2057400"/>
            <a:ext cx="2113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19218" y="2880360"/>
            <a:ext cx="27532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A2433"/>
                </a:solidFill>
              </a:rPr>
              <a:t>Generate a one-time code_verifier; send only its hash (code_challenge) at /authorize; present the verifier at /token. The server recomputes and compares.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158277" y="169164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78317" y="2011680"/>
            <a:ext cx="640080" cy="640080"/>
          </a:xfrm>
          <a:prstGeom prst="ellipse">
            <a:avLst/>
          </a:prstGeom>
          <a:solidFill>
            <a:srgbClr val="1F9D6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477" y="21488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55557" y="2057400"/>
            <a:ext cx="2113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78317" y="2880360"/>
            <a:ext cx="275325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1A2433"/>
                </a:solidFill>
              </a:rPr>
              <a:t>Defeats code interception with just a hash + random number — no shared secret, no extra round trips. Now a recommended default for all clients.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5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84708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iOS Client  (SwiftUI)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0120" y="2606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AuthManager — owns the OAuth/PKCE flow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PKCEHelper (CryptoKit) · KeychainHelper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ASWebAuthenticationSession secure browser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720840" y="155448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040880" y="1828800"/>
            <a:ext cx="640080" cy="64008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965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18120" y="184708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E7D"/>
                </a:solidFill>
              </a:rPr>
              <a:t>Spring Boot Backend  (Java 17)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040880" y="2606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/authorize — issues code bound to challenge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/token — verifies PKCE, issues signed JWT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433"/>
                </a:solidFill>
              </a:rPr>
              <a:t>/me — validates Bearer JWT (protected)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</a:rPr>
              <a:t>END-TO-END FLOW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80560"/>
            <a:ext cx="252214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7724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77240" y="5010912"/>
            <a:ext cx="2247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3"/>
                </a:solidFill>
              </a:rPr>
              <a:t>Generate verifier + challenge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180512" y="4983480"/>
            <a:ext cx="237744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436544" y="4480560"/>
            <a:ext cx="252214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573704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3573704" y="5010912"/>
            <a:ext cx="2247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3"/>
                </a:solidFill>
              </a:rPr>
              <a:t>/authorize → code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976976" y="4983480"/>
            <a:ext cx="237744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233008" y="4480560"/>
            <a:ext cx="2522144" cy="1005840"/>
          </a:xfrm>
          <a:prstGeom prst="roundRect">
            <a:avLst>
              <a:gd name="adj" fmla="val 7273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370168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370168" y="5010912"/>
            <a:ext cx="2247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/token + verifier → JWT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773439" y="4983480"/>
            <a:ext cx="237744" cy="0"/>
          </a:xfrm>
          <a:prstGeom prst="line">
            <a:avLst/>
          </a:prstGeom>
          <a:noFill/>
          <a:ln w="19050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29471" y="4480560"/>
            <a:ext cx="252214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166631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9166631" y="5010912"/>
            <a:ext cx="2247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3"/>
                </a:solidFill>
              </a:rPr>
              <a:t>/me with Bearer JWT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E"/>
                </a:solidFill>
              </a:rPr>
              <a:t>Security: PKCE (S256) · state (CSRF) · single-use 60s codes · constant-time compare · signed JWT (5-min) · Keychain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PKCE Protects the Exchange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713232" cy="713232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48256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28800" y="2148840"/>
            <a:ext cx="2021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27532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Client creates a random code_verifier (kept secret on device) and derives code_challenge = BASE64URL(SHA256(verifier)).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99178" y="169164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9218" y="2011680"/>
            <a:ext cx="713232" cy="713232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12" name="Text 9"/>
          <p:cNvSpPr/>
          <p:nvPr/>
        </p:nvSpPr>
        <p:spPr>
          <a:xfrm>
            <a:off x="4719218" y="2048256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587898" y="2148840"/>
            <a:ext cx="2021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19218" y="2926080"/>
            <a:ext cx="27532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At /authorize the client sends only the code_challenge. The server stores it with the issued code.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58277" y="1691640"/>
            <a:ext cx="3393338" cy="2743200"/>
          </a:xfrm>
          <a:prstGeom prst="roundRect">
            <a:avLst>
              <a:gd name="adj" fmla="val 2667"/>
            </a:avLst>
          </a:prstGeom>
          <a:solidFill>
            <a:srgbClr val="ECF8F7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78317" y="2011680"/>
            <a:ext cx="713232" cy="713232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7" name="Text 14"/>
          <p:cNvSpPr/>
          <p:nvPr/>
        </p:nvSpPr>
        <p:spPr>
          <a:xfrm>
            <a:off x="8478317" y="2048256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346997" y="2148840"/>
            <a:ext cx="20217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E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78317" y="2926080"/>
            <a:ext cx="27532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At /token the client sends the code_verifier. The server recomputes the hash and compares — match required.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80060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0F244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138928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37360" y="498348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EA5A4"/>
                </a:solidFill>
              </a:rPr>
              <a:t>Why it works: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the verifier never leaves the legitimate client and the challenge is a one-way hash. An attacker who steals only the code cannot produce a matching verifier — so the stolen code is useless.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— Backend (Spring Boot)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E"/>
                </a:solidFill>
              </a:rPr>
              <a:t>Java 17 · Spring Boot 3.3.5 · jjwt 0.12.6 · in-memory (no database) · port 8080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783080"/>
            <a:ext cx="91440" cy="896112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91109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/authorize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206240" y="1874520"/>
            <a:ext cx="7071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433"/>
                </a:solidFill>
              </a:rPr>
              <a:t>Validates client_id, redirect_uri, S256 method; mints a single-use code bound to the code_challenge; 302-redirects back with code + state.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807208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807208"/>
            <a:ext cx="91440" cy="896112"/>
          </a:xfrm>
          <a:prstGeom prst="rect">
            <a:avLst/>
          </a:prstGeom>
          <a:solidFill>
            <a:srgbClr val="0EA5A4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293522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/token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206240" y="2898648"/>
            <a:ext cx="7071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433"/>
                </a:solidFill>
              </a:rPr>
              <a:t>Verifies PKCE via MessageDigest.isEqual (constant-time); on success consumes the code and issues an HS256 JWT (5-min). Failed PKCE does not burn the code.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831336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BEDEC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831336"/>
            <a:ext cx="91440" cy="896112"/>
          </a:xfrm>
          <a:prstGeom prst="rect">
            <a:avLst/>
          </a:prstGeom>
          <a:solidFill>
            <a:srgbClr val="D84A42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4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/token-legacy-insecure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206240" y="3922776"/>
            <a:ext cx="7071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433"/>
                </a:solidFill>
              </a:rPr>
              <a:t>DEMO-ONLY, intentionally vulnerable: issues a JWT with no PKCE check at all. Exists solely to demonstrate the pre-PKCE attack.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855464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4855464"/>
            <a:ext cx="91440" cy="896112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206240" y="4946904"/>
            <a:ext cx="7071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2433"/>
                </a:solidFill>
              </a:rPr>
              <a:t>Protected: validates the Bearer JWT (signature, expiry, issuer) and returns the user identity, else 401.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E"/>
                </a:solidFill>
              </a:rPr>
              <a:t>Key classes: AuthController · PkceVerifier · JwtService · CodeStore · DemoConfig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— iOS Client (SwiftUI)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E"/>
                </a:solidFill>
              </a:rPr>
              <a:t>SwiftUI · iOS 16+ · logic isolated in AuthManager (ObservableObject); Views only observe it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</a:rPr>
              <a:t>login() — step by step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377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Generate code_verifier + code_challenge (CryptoKit SHA-256).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Generate a random state (UUID) for CSRF protection.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Open ASWebAuthenticationSession to /authorize (ephemeral).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On callback: verify state matches, extract the code.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POST code + verifier to /token → receive JWT.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A2433"/>
                </a:solidFill>
              </a:rPr>
              <a:t>Store JWT in the Keychain; mark as signed 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105095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892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E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PKCEHelper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75120" y="2194560"/>
            <a:ext cx="4647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3"/>
                </a:solidFill>
              </a:rPr>
              <a:t>32 random bytes → base64url verifier; SHA-256 → challenge.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46520" y="2816352"/>
            <a:ext cx="5105095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E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KeychainHelper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75120" y="3227832"/>
            <a:ext cx="4647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3"/>
                </a:solidFill>
              </a:rPr>
              <a:t>Stores / reads / deletes the JWT in the secure Keychain.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46520" y="3849624"/>
            <a:ext cx="5105095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3959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E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AuthManager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75120" y="4261104"/>
            <a:ext cx="4647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3"/>
                </a:solidFill>
              </a:rPr>
              <a:t>@Published isAuthenticated, username, lastError; runs on @MainActor.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46520" y="4882896"/>
            <a:ext cx="5105095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0" y="4992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E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ContentView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75120" y="5294376"/>
            <a:ext cx="4647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3"/>
                </a:solidFill>
              </a:rPr>
              <a:t>Sign in / Call /me / Logout — observes AuthManager only.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Mechanisms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09397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6596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PKCE (S256)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265176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Binds the code to the client — defeats interception.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99178" y="16916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73498" y="1965960"/>
            <a:ext cx="566928" cy="566928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514" y="209397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9298" y="196596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Single-use codes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73498" y="265176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A code works once; consumed on success.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58277" y="16916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32597" y="1965960"/>
            <a:ext cx="566928" cy="566928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613" y="209397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18397" y="196596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60-second TTL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432597" y="265176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A stolen code expires almost immediately.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365760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3931920"/>
            <a:ext cx="566928" cy="566928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059936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393192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Constant-time compare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4400" y="46177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MessageDigest.isEqual blocks timing attacks.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399178" y="365760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73498" y="3931920"/>
            <a:ext cx="566928" cy="566928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514" y="4059936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59298" y="393192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Signed JWT (HS256)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673498" y="46177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Tamper-proof, 5-minute expiry, issuer-checked.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158277" y="365760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432597" y="3931920"/>
            <a:ext cx="566928" cy="566928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613" y="4059936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18397" y="3931920"/>
            <a:ext cx="22503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</a:rPr>
              <a:t>state parameter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432597" y="46177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Anti-CSRF: ties the response to the request.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D84A42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— Live Interception Attack Demo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</a:rPr>
              <a:t>A single script runs three scenarios against the live backend using one intercepted authorization code: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39333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965960"/>
            <a:ext cx="3393338" cy="109728"/>
          </a:xfrm>
          <a:prstGeom prst="rect">
            <a:avLst/>
          </a:prstGeom>
          <a:solidFill>
            <a:srgbClr val="D84A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240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</a:rPr>
              <a:t>Legacy server — no PKCE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14400" y="288036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Attacker submits the stolen code to a simulated pre-PKCE endpoint.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4400" y="3749040"/>
            <a:ext cx="2844698" cy="457200"/>
          </a:xfrm>
          <a:prstGeom prst="roundRect">
            <a:avLst>
              <a:gd name="adj" fmla="val 10000"/>
            </a:avLst>
          </a:prstGeom>
          <a:solidFill>
            <a:srgbClr val="FBEDEC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4A42"/>
                </a:solidFill>
              </a:rPr>
              <a:t>ATTACK SUCCEEDED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425196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433"/>
                </a:solidFill>
              </a:rPr>
              <a:t>Token issued from the stolen code.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99178" y="1965960"/>
            <a:ext cx="339333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99178" y="1965960"/>
            <a:ext cx="3393338" cy="109728"/>
          </a:xfrm>
          <a:prstGeom prst="rect">
            <a:avLst/>
          </a:prstGeom>
          <a:solidFill>
            <a:srgbClr val="1F9D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98" y="2258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7858" y="2240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</a:rPr>
              <a:t>PKCE server — attacker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673498" y="288036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Attacker submits the same code to the real /token (no verifier).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73498" y="3749040"/>
            <a:ext cx="2844698" cy="45720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/>
        </p:spPr>
      </p:sp>
      <p:sp>
        <p:nvSpPr>
          <p:cNvPr id="20" name="Text 15"/>
          <p:cNvSpPr/>
          <p:nvPr/>
        </p:nvSpPr>
        <p:spPr>
          <a:xfrm>
            <a:off x="4673498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62"/>
                </a:solidFill>
              </a:rPr>
              <a:t>ATTACK BLOCKED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673498" y="425196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433"/>
                </a:solidFill>
              </a:rPr>
              <a:t>invalid_grant — PKCE verification fails.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158277" y="1965960"/>
            <a:ext cx="339333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58277" y="1965960"/>
            <a:ext cx="3393338" cy="109728"/>
          </a:xfrm>
          <a:prstGeom prst="rect">
            <a:avLst/>
          </a:prstGeom>
          <a:solidFill>
            <a:srgbClr val="1F9D6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597" y="22585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26957" y="2240280"/>
            <a:ext cx="2341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</a:rPr>
              <a:t>PKCE server — legit client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432597" y="288036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</a:rPr>
              <a:t>Real client submits the same code with the correct verifier.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432597" y="3749040"/>
            <a:ext cx="2844698" cy="457200"/>
          </a:xfrm>
          <a:prstGeom prst="roundRect">
            <a:avLst>
              <a:gd name="adj" fmla="val 10000"/>
            </a:avLst>
          </a:prstGeom>
          <a:solidFill>
            <a:srgbClr val="EAF6EF"/>
          </a:solidFill>
          <a:ln/>
        </p:spPr>
      </p:sp>
      <p:sp>
        <p:nvSpPr>
          <p:cNvPr id="28" name="Text 22"/>
          <p:cNvSpPr/>
          <p:nvPr/>
        </p:nvSpPr>
        <p:spPr>
          <a:xfrm>
            <a:off x="8432597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9D62"/>
                </a:solidFill>
              </a:rPr>
              <a:t>LEGIT SUCCEEDED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432597" y="425196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433"/>
                </a:solidFill>
              </a:rPr>
              <a:t>Proves a failed attempt didn't burn the code.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ECF8F7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60120" y="512064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7E7D"/>
                </a:solidFill>
              </a:rPr>
              <a:t>Design decision: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2433"/>
                </a:solidFill>
              </a:rPr>
              <a:t>a failed PKCE check does not consume the code — otherwise an attacker could intentionally invalidate it and deny service to the real user. Scenario 3 confirms the legitimate client still succeeds.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Demo Simplifications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</a:rPr>
              <a:t>Deliberate simplifications to keep the focus on the PKCE security property (stated openly in the report):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</a:rPr>
              <a:t>Single hardcoded user and client; all state in memory, no database.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</a:rPr>
              <a:t>/authorize auto-approves the user — no login/consent UI (focus is the code exchange, not authentication UI).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</a:rPr>
              <a:t>Hardcoded JWT signing secret in one marked constant; production would use a managed, rotated key.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</a:rPr>
              <a:t>/token-legacy-insecure is intentionally vulnerable and demo-only; it also does not consume the code so one code can drive all three scenarios.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</a:rPr>
              <a:t>Plaintext HTTP to localhost via a narrow ATS exception for the Simulator; production uses HTTPS only.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Contributions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17922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Batuhan Arda</a:t>
            </a:r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   2368567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148840"/>
            <a:ext cx="95399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iOS / SwiftUI client — AuthManager, PKCE generation (CryptoKit), ASWebAuthenticationSession flow, Keychain storage, UI; system architecture &amp; integration.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24612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737360" y="3118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Abdullabek Atajanov</a:t>
            </a:r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   2364274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737360" y="3474720"/>
            <a:ext cx="95399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Java / Spring Boot backend — /authorize, /token, /me endpoints, in-memory code store, JWT issuance &amp; validation, PKCE verification; end-to-end testing.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10911535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572000"/>
            <a:ext cx="594360" cy="594360"/>
          </a:xfrm>
          <a:prstGeom prst="ellipse">
            <a:avLst/>
          </a:prstGeom>
          <a:solidFill>
            <a:srgbClr val="294B73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572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KG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737360" y="444398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</a:rPr>
              <a:t>Kerem Gürcan</a:t>
            </a:r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</a:rPr>
              <a:t>   2366446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737360" y="4800600"/>
            <a:ext cx="95399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</a:rPr>
              <a:t>Security mechanisms &amp; the interception-attack demonstration (legacy-vs-PKCE script); literature review and technical report.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E"/>
                </a:solidFill>
              </a:rPr>
              <a:t>All members understand both the theory and the code, and take part in the live demo and Q&amp;A.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280160"/>
            <a:ext cx="3474720" cy="347472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371600"/>
            <a:ext cx="1325880" cy="132588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88900" dist="38100" dir="5400000">
              <a:srgbClr val="0F24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673352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CF2"/>
                </a:solidFill>
              </a:rPr>
              <a:t>Sign in on the iOS app  →  PKCE-protected token exchange  →  protected /me call,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CF2"/>
                </a:solidFill>
              </a:rPr>
              <a:t>then the scripted interception attack: blocked by PKCE, allowed on a legacy server.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A5A4"/>
                </a:solidFill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Mobile Authentication with OAuth 2.0 + PKCE</dc:title>
  <dc:subject>PptxGenJS Presentation</dc:subject>
  <dc:creator>SEN 2008 Group</dc:creator>
  <cp:lastModifiedBy>SEN 2008 Group</cp:lastModifiedBy>
  <cp:revision>1</cp:revision>
  <dcterms:created xsi:type="dcterms:W3CDTF">2026-06-02T17:06:42Z</dcterms:created>
  <dcterms:modified xsi:type="dcterms:W3CDTF">2026-06-02T17:06:42Z</dcterms:modified>
</cp:coreProperties>
</file>